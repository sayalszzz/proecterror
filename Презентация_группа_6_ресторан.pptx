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3ae82d921e4bf6" /><Relationship Type="http://schemas.openxmlformats.org/officeDocument/2006/relationships/extended-properties" Target="/docProps/app.xml" Id="Rdc43f3cbb2e246d7" /><Relationship Type="http://schemas.openxmlformats.org/officeDocument/2006/relationships/officeDocument" Target="/ppt/presentation.xml" Id="R0c741de55c8848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52e189cbd040b1"/>
  </p:sldMasterIdLst>
  <p:notesMasterIdLst>
    <p:notesMasterId xmlns:r="http://schemas.openxmlformats.org/officeDocument/2006/relationships" r:id="R6ffc385b67e3442e"/>
  </p:notesMasterIdLst>
  <p:sldIdLst>
    <p:sldId xmlns:r="http://schemas.openxmlformats.org/officeDocument/2006/relationships" id="256" r:id="R884d62a9e8814cef"/>
    <p:sldId xmlns:r="http://schemas.openxmlformats.org/officeDocument/2006/relationships" id="257" r:id="R25cc98bf59494051"/>
    <p:sldId xmlns:r="http://schemas.openxmlformats.org/officeDocument/2006/relationships" id="258" r:id="Rc788fec7027c4e73"/>
    <p:sldId xmlns:r="http://schemas.openxmlformats.org/officeDocument/2006/relationships" id="259" r:id="Ra8ebd4346bcd4932"/>
    <p:sldId xmlns:r="http://schemas.openxmlformats.org/officeDocument/2006/relationships" id="260" r:id="R6758e7c361bc4bcc"/>
    <p:sldId xmlns:r="http://schemas.openxmlformats.org/officeDocument/2006/relationships" id="261" r:id="Raa89b7e5e78a4b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d001b2da6545c4" /><Relationship Type="http://schemas.openxmlformats.org/officeDocument/2006/relationships/slideMaster" Target="/ppt/slideMasters/slideMaster1.xml" Id="Rbd52e189cbd040b1" /><Relationship Type="http://schemas.openxmlformats.org/officeDocument/2006/relationships/notesMaster" Target="/ppt/notesMasters/notesMaster1.xml" Id="R6ffc385b67e3442e" /><Relationship Type="http://schemas.openxmlformats.org/officeDocument/2006/relationships/presProps" Target="/ppt/presProps.xml" Id="Rbe5889c5ae52416a" /><Relationship Type="http://schemas.openxmlformats.org/officeDocument/2006/relationships/tableStyles" Target="/ppt/tableStyles.xml" Id="R7c90a02ba81e430f" /><Relationship Type="http://schemas.openxmlformats.org/officeDocument/2006/relationships/slide" Target="/ppt/slides/slide1.xml" Id="R884d62a9e8814cef" /><Relationship Type="http://schemas.openxmlformats.org/officeDocument/2006/relationships/slide" Target="/ppt/slides/slide2.xml" Id="R25cc98bf59494051" /><Relationship Type="http://schemas.openxmlformats.org/officeDocument/2006/relationships/slide" Target="/ppt/slides/slide3.xml" Id="Rc788fec7027c4e73" /><Relationship Type="http://schemas.openxmlformats.org/officeDocument/2006/relationships/slide" Target="/ppt/slides/slide4.xml" Id="Ra8ebd4346bcd4932" /><Relationship Type="http://schemas.openxmlformats.org/officeDocument/2006/relationships/slide" Target="/ppt/slides/slide5.xml" Id="R6758e7c361bc4bcc" /><Relationship Type="http://schemas.openxmlformats.org/officeDocument/2006/relationships/slide" Target="/ppt/slides/slide6.xml" Id="Raa89b7e5e78a4b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1a0e0f7daf41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f5814b5f8344ce" /><Relationship Type="http://schemas.openxmlformats.org/officeDocument/2006/relationships/notesMaster" Target="/ppt/notesMasters/notesMaster1.xml" Id="R4835a99763814e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0af9c91ffe461d" /><Relationship Type="http://schemas.openxmlformats.org/officeDocument/2006/relationships/notesMaster" Target="/ppt/notesMasters/notesMaster1.xml" Id="Ref47397e4deb44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a5a66115554650" /><Relationship Type="http://schemas.openxmlformats.org/officeDocument/2006/relationships/notesMaster" Target="/ppt/notesMasters/notesMaster1.xml" Id="R28b2394e1c0a4c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467ff6e10b4485" /><Relationship Type="http://schemas.openxmlformats.org/officeDocument/2006/relationships/notesMaster" Target="/ppt/notesMasters/notesMaster1.xml" Id="R8035e15ed1944a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b5d9e128b64d59" /><Relationship Type="http://schemas.openxmlformats.org/officeDocument/2006/relationships/notesMaster" Target="/ppt/notesMasters/notesMaster1.xml" Id="R9e747023511a49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4c0553eef941d5" /><Relationship Type="http://schemas.openxmlformats.org/officeDocument/2006/relationships/notesMaster" Target="/ppt/notesMasters/notesMaster1.xml" Id="Re9256b762bb649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Проектное задание группы 6. Две JavaFX-версии используют SQLite и одинаковую предметную область.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локальный контрольный запуск C:\Users\блоош\IdeaProjects\proect, 15.09.2026.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proecterror/src и proecterror/ERRORS.md. Интерфейс остаётся работоспособным для сравнительной демонстрации.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Полный список: proecterror/ERRORS.md. Сопоставление исправлений: proect/REFACTORING.md.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qa/benchmark.py и qa/benchmark-results.json. Замеры выполнены локально 15.09.2026. Значения зависят от оборудования.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Теория: https://refactoring.com; https://docs.oracle.com/javase/tutorial/jdbc/basics/prepared.html; https://www.sqlite.org/queryplanner.html; https://openjfx.io/javadoc/17/javafx.graphics/javafx/concurrent/Task.html; https://cheatsheetseries.owasp.org/cheatsheets/SQL_Injection_Prevention_Cheat_Sheet.html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3c6d6553f14e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13f51810504c9a" /><Relationship Type="http://schemas.openxmlformats.org/officeDocument/2006/relationships/slideLayout" Target="/ppt/slideLayouts/slideLayout1.xml" Id="Rf8acc4c68e8947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acc4c68e8947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e9aa6ccc94406" /><Relationship Type="http://schemas.openxmlformats.org/officeDocument/2006/relationships/notesSlide" Target="/ppt/notesSlides/notesSlide1.xml" Id="R9e9359e6e63943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c35dd4db94e5a" /><Relationship Type="http://schemas.openxmlformats.org/officeDocument/2006/relationships/image" Target="/ppt/media/image.png" Id="R420fef7b25ae4b0a" /><Relationship Type="http://schemas.openxmlformats.org/officeDocument/2006/relationships/notesSlide" Target="/ppt/notesSlides/notesSlide2.xml" Id="R4466fe57a9b64d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f59efac96442a" /><Relationship Type="http://schemas.openxmlformats.org/officeDocument/2006/relationships/image" Target="/ppt/media/image2.png" Id="R1a51e09fdb11496c" /><Relationship Type="http://schemas.openxmlformats.org/officeDocument/2006/relationships/notesSlide" Target="/ppt/notesSlides/notesSlide3.xml" Id="Rcd35bb762edc40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ca49cce224e52" /><Relationship Type="http://schemas.openxmlformats.org/officeDocument/2006/relationships/notesSlide" Target="/ppt/notesSlides/notesSlide4.xml" Id="R06008892a55e42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0925751c84c8d" /><Relationship Type="http://schemas.openxmlformats.org/officeDocument/2006/relationships/chart" Target="/ppt/slides/charts/chart1.xml" Id="R5fdcfb437f044082" /><Relationship Type="http://schemas.openxmlformats.org/officeDocument/2006/relationships/notesSlide" Target="/ppt/notesSlides/notesSlide5.xml" Id="R0868dda49cb843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239f45ace46f8" /><Relationship Type="http://schemas.openxmlformats.org/officeDocument/2006/relationships/notesSlide" Target="/ppt/notesSlides/notesSlide6.xml" Id="R9ff7e268f59147e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До</c:v>
          </c:tx>
          <c:spPr>
            <a:solidFill xmlns:a="http://schemas.openxmlformats.org/drawingml/2006/main">
              <a:srgbClr val="B03A2E"/>
            </a:solidFill>
          </c:spPr>
          <c:cat>
            <c:strRef>
              <c:f>'Chart Data'!$A$2:$A$4</c:f>
              <c:strCache>
                <c:ptCount val="3"/>
                <c:pt idx="0">
                  <c:v>Загрузка заказов</c:v>
                </c:pt>
                <c:pt idx="1">
                  <c:v>Фильтрация категории</c:v>
                </c:pt>
                <c:pt idx="2">
                  <c:v>Повторное чтение меню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28.525</c:v>
                </c:pt>
                <c:pt idx="1">
                  <c:v>4.73</c:v>
                </c:pt>
                <c:pt idx="2">
                  <c:v>7.666</c:v>
                </c:pt>
              </c:numCache>
            </c:numRef>
          </c:val>
        </c:ser>
        <c:ser>
          <c:idx val="1"/>
          <c:order val="1"/>
          <c:tx>
            <c:v>После</c:v>
          </c:tx>
          <c:spPr>
            <a:solidFill xmlns:a="http://schemas.openxmlformats.org/drawingml/2006/main">
              <a:srgbClr val="2E7D5B"/>
            </a:solidFill>
          </c:spPr>
          <c:cat>
            <c:strRef>
              <c:f>'Chart Data'!$C$2:$C$4</c:f>
              <c:strCache>
                <c:ptCount val="3"/>
                <c:pt idx="0">
                  <c:v>Загрузка заказов</c:v>
                </c:pt>
                <c:pt idx="1">
                  <c:v>Фильтрация категории</c:v>
                </c:pt>
                <c:pt idx="2">
                  <c:v>Повторное чтение меню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2.224</c:v>
                </c:pt>
                <c:pt idx="1">
                  <c:v>0.08</c:v>
                </c:pt>
                <c:pt idx="2">
                  <c:v>0.023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7202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Медиана, мс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FEEAC-333F-4627-BD8A-082A0EE5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10439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Управление заказами ресторана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3810B-F3B9-470C-847B-BC746F3B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1043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DCE6F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CE6F1"/>
                </a:solidFill>
                <a:latin typeface="Arial"/>
                <a:ea typeface="Arial"/>
                <a:cs typeface="Arial"/>
              </a:rPr>
              <a:t>Группа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EDCAD-FF03-4A61-89DD-42EDC64B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57625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proect — исправленная версия</a:t>
            </a:r>
          </a:p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proecterror — версия с учебными ошибками</a:t>
            </a:r>
          </a:p>
        </p:txBody>
      </p:sp>
    </p:spTree>
    <p:extLst>
      <p:ext uri="{BB962C8B-B14F-4D97-AF65-F5344CB8AC3E}">
        <p14:creationId xmlns:p14="http://schemas.microsoft.com/office/powerpoint/2010/main" val="4378619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A8386-4B32-4C69-96AE-EEF97107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Исправленный проект proect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fef7b25ae4b0a"/>
          <a:stretch xmlns:a="http://schemas.openxmlformats.org/drawingml/2006/main"/>
        </p:blipFill>
        <p:spPr>
          <a:xfrm xmlns:a="http://schemas.openxmlformats.org/drawingml/2006/main">
            <a:off x="514350" y="1229916"/>
            <a:ext cx="7524750" cy="47029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C424A-41CC-4844-8E31-3000AFE1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2575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2A"/>
                </a:solidFill>
                <a:latin typeface="Arial"/>
                <a:ea typeface="Arial"/>
                <a:cs typeface="Arial"/>
              </a:rPr>
              <a:t>Поиск и фильтрация выполняются SQL-запросом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2A"/>
                </a:solidFill>
                <a:latin typeface="Arial"/>
                <a:ea typeface="Arial"/>
                <a:cs typeface="Arial"/>
              </a:rPr>
              <a:t>Меню и история загружаются страницами по 10 записей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2A"/>
                </a:solidFill>
                <a:latin typeface="Arial"/>
                <a:ea typeface="Arial"/>
                <a:cs typeface="Arial"/>
              </a:rPr>
              <a:t>Несколько блюд формируют один текущий заказ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2A"/>
                </a:solidFill>
                <a:latin typeface="Arial"/>
                <a:ea typeface="Arial"/>
                <a:cs typeface="Arial"/>
              </a:rPr>
              <a:t>Статус меняется у выбранного заказа истории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02A"/>
                </a:solidFill>
                <a:latin typeface="Arial"/>
                <a:ea typeface="Arial"/>
                <a:cs typeface="Arial"/>
              </a:rPr>
              <a:t>SQLite работает в фоновом JavaFX Task</a:t>
            </a:r>
          </a:p>
        </p:txBody>
      </p:sp>
    </p:spTree>
    <p:extLst>
      <p:ext uri="{BB962C8B-B14F-4D97-AF65-F5344CB8AC3E}">
        <p14:creationId xmlns:p14="http://schemas.microsoft.com/office/powerpoint/2010/main" val="11369106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AAA64-226A-4BD1-80FF-DDCEC851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Проект proecterror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1e09fdb11496c"/>
          <a:stretch xmlns:a="http://schemas.openxmlformats.org/drawingml/2006/main"/>
        </p:blipFill>
        <p:spPr>
          <a:xfrm xmlns:a="http://schemas.openxmlformats.org/drawingml/2006/main">
            <a:off x="514350" y="1229916"/>
            <a:ext cx="7524750" cy="47029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6F1CD-CE7C-4162-941C-58E5DBFC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624"/>
          </a:bodyPr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B03A2E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B03A2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60760-E80F-4288-8E2F-76035B46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ошибок рефакторинга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AE967-9AD9-4BD4-B0AD-14069653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86125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624"/>
          </a:bodyPr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B03A2E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B03A2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22E11-4F07-4CE5-B609-F9C0C903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481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ошибок оптимизации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7CED0-5499-41B5-9B3F-8F75A36A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5300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Ошибки отмечены рядом с кодом и перечислены в ERRORS.md</a:t>
            </a:r>
          </a:p>
        </p:txBody>
      </p:sp>
    </p:spTree>
    <p:extLst>
      <p:ext uri="{BB962C8B-B14F-4D97-AF65-F5344CB8AC3E}">
        <p14:creationId xmlns:p14="http://schemas.microsoft.com/office/powerpoint/2010/main" val="858049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69FCB-ACB5-4466-8747-6E201C98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Классификация ошибок и исправлений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590550" y="1285875"/>
          <a:ext xmlns:a="http://schemas.openxmlformats.org/drawingml/2006/main" cx="110109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238625"/>
                <a:gridCol w="4867275"/>
              </a:tblGrid>
              <a:tr h="639536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Область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proecterror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proect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</a:tr>
              <a:tr h="639536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Модели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Публичные поля, длинные параметры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Инкапсуляция, Customer, NutritionInfo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Статусы</a:t>
                      </a:r>
                    </a:p>
                  </a:txBody>
                  <a:tcPr marL="91440" marR="91440" marT="45720" marB="45720">
                    <a:solidFill>
                      <a:srgbClr val="EAF2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Строки NEW и COOKING</a:t>
                      </a:r>
                    </a:p>
                  </a:txBody>
                  <a:tcPr marL="91440" marR="91440" marT="45720" marB="45720">
                    <a:solidFill>
                      <a:srgbClr val="EAF2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Перечисление OrderStatus</a:t>
                      </a:r>
                    </a:p>
                  </a:txBody>
                  <a:tcPr marL="91440" marR="91440" marT="45720" marB="45720">
                    <a:solidFill>
                      <a:srgbClr val="EAF2F8"/>
                    </a:solidFill>
                  </a:tcPr>
                </a:tc>
              </a:tr>
              <a:tr h="639536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JDBC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Конкатенация, N+1, утечка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PreparedStatement, JOIN, try-with-resources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Запись заказа</a:t>
                      </a:r>
                    </a:p>
                  </a:txBody>
                  <a:tcPr marL="91440" marR="91440" marT="45720" marB="45720">
                    <a:solidFill>
                      <a:srgbClr val="EAF2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Нет общей транзакции</a:t>
                      </a:r>
                    </a:p>
                  </a:txBody>
                  <a:tcPr marL="91440" marR="91440" marT="45720" marB="45720">
                    <a:solidFill>
                      <a:srgbClr val="EAF2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commit и rollback</a:t>
                      </a:r>
                    </a:p>
                  </a:txBody>
                  <a:tcPr marL="91440" marR="91440" marT="45720" marB="45720">
                    <a:solidFill>
                      <a:srgbClr val="EAF2F8"/>
                    </a:solidFill>
                  </a:tcPr>
                </a:tc>
              </a:tr>
              <a:tr h="639536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Поиск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Полная загрузка и O(n)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SQL, индексы, LIMIT и OFFSET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Интерфейс</a:t>
                      </a:r>
                    </a:p>
                  </a:txBody>
                  <a:tcPr marL="91440" marR="91440" marT="45720" marB="45720">
                    <a:solidFill>
                      <a:srgbClr val="EAF2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Запросы блокируют JavaFX</a:t>
                      </a:r>
                    </a:p>
                  </a:txBody>
                  <a:tcPr marL="91440" marR="91440" marT="45720" marB="45720">
                    <a:solidFill>
                      <a:srgbClr val="EAF2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Фоновые Task и кэш страниц</a:t>
                      </a:r>
                    </a:p>
                  </a:txBody>
                  <a:tcPr marL="91440" marR="91440" marT="45720" marB="45720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7929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B6F20-3280-4801-85A6-2C18E1ED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Измерение производительности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723900" y="1381125"/>
          <a:ext xmlns:a="http://schemas.openxmlformats.org/drawingml/2006/main" cx="75247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dcfb437f044082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5489A-5E8E-42B5-955F-C8F95929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71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Набор данных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1F80E-C699-4618-81C0-7F14B305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76450"/>
            <a:ext cx="276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5000 блюд</a:t>
            </a:r>
          </a:p>
          <a:p xmlns:a="http://schemas.openxmlformats.org/drawingml/2006/main">
            <a:pPr algn="ctr">
              <a:defRPr sz="18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1000 заказов</a:t>
            </a:r>
          </a:p>
          <a:p xmlns:a="http://schemas.openxmlformats.org/drawingml/2006/main">
            <a:pPr algn="ctr">
              <a:defRPr sz="18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5000 позиций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9FF37-37F9-4D23-AD53-F980EBAF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71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Ускорение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97E9F-0CF1-43F2-AB2A-EDBA1380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7195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E7D5B"/>
                </a:solidFill>
                <a:latin typeface="Arial"/>
                <a:ea typeface="Arial"/>
                <a:cs typeface="Arial"/>
              </a:rPr>
              <a:t>Загрузка заказов: 12.8x</a:t>
            </a:r>
          </a:p>
          <a:p xmlns:a="http://schemas.openxmlformats.org/drawingml/2006/main">
            <a:pPr algn="ctr">
              <a:defRPr sz="1575" b="0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E7D5B"/>
                </a:solidFill>
                <a:latin typeface="Arial"/>
                <a:ea typeface="Arial"/>
                <a:cs typeface="Arial"/>
              </a:rPr>
              <a:t>Фильтрация категории: 59.1x</a:t>
            </a:r>
          </a:p>
          <a:p xmlns:a="http://schemas.openxmlformats.org/drawingml/2006/main">
            <a:pPr algn="ctr">
              <a:defRPr sz="1575" b="0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E7D5B"/>
                </a:solidFill>
                <a:latin typeface="Arial"/>
                <a:ea typeface="Arial"/>
                <a:cs typeface="Arial"/>
              </a:rPr>
              <a:t>Повторное чтение меню: 333.3x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178C6-9D36-4731-8DB9-FF3D4E75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10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Медиана 7 запусков</a:t>
            </a:r>
          </a:p>
        </p:txBody>
      </p:sp>
    </p:spTree>
    <p:extLst>
      <p:ext uri="{BB962C8B-B14F-4D97-AF65-F5344CB8AC3E}">
        <p14:creationId xmlns:p14="http://schemas.microsoft.com/office/powerpoint/2010/main" val="6837880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E1CF7-C793-4308-9271-B49FEF6A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показать на защите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913A0-D7CE-4773-8543-56A96765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795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A9D6E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A9D6E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6AE6B-24BA-4EE1-BE3A-B9A595A9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5735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Одинаковый сценарий работы двух интерфейсов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4878B-AE3B-4804-9977-681E5B5A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795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A9D6E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A9D6E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ABF46-003F-4A7E-BD10-1964BDA4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0510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Фрагменты кода до и после каждого изменения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0EC01-AA21-46C8-AFB0-BC4B40DD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795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A9D6E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A9D6E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1899E-5026-45E5-985A-EFB4EAC6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5285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Сохранение логики и данных SQLite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4FEC6-EB05-46AF-B49C-654E87BA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795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A9D6E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A9D6E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47E5D-F5AE-493E-BBC3-9BE3E355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0060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Замеры JOIN, индексов и кэширования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E0EBF1-CF25-4DD9-B8FE-D6B484B2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055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CE6F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CE6F1"/>
                </a:solidFill>
                <a:latin typeface="Arial"/>
                <a:ea typeface="Arial"/>
                <a:cs typeface="Arial"/>
              </a:rPr>
              <a:t>Оба проекта компилируются и запускаются</a:t>
            </a:r>
          </a:p>
        </p:txBody>
      </p:sp>
    </p:spTree>
    <p:extLst>
      <p:ext uri="{BB962C8B-B14F-4D97-AF65-F5344CB8AC3E}">
        <p14:creationId xmlns:p14="http://schemas.microsoft.com/office/powerpoint/2010/main" val="21124079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2026-09-15T04:38:29.7190000Z</dcterms:created>
  <dcterms:modified xsi:type="dcterms:W3CDTF">2026-09-15T04:38:29.7190000Z</dcterms:modified>
</coreProperties>
</file>